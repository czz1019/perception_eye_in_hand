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03740454914c0a" /><Relationship Type="http://schemas.openxmlformats.org/officeDocument/2006/relationships/extended-properties" Target="/docProps/app.xml" Id="R41c0428c967f4d38" /><Relationship Type="http://schemas.openxmlformats.org/officeDocument/2006/relationships/officeDocument" Target="/ppt/presentation.xml" Id="R5d2b70e89ff440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6252d48c064d29"/>
  </p:sldMasterIdLst>
  <p:notesMasterIdLst>
    <p:notesMasterId xmlns:r="http://schemas.openxmlformats.org/officeDocument/2006/relationships" r:id="R9fb52293598f47a6"/>
  </p:notesMasterIdLst>
  <p:sldIdLst>
    <p:sldId xmlns:r="http://schemas.openxmlformats.org/officeDocument/2006/relationships" id="256" r:id="Ra25f9352ff2d41f5"/>
    <p:sldId xmlns:r="http://schemas.openxmlformats.org/officeDocument/2006/relationships" id="257" r:id="Rfc398d1971b84238"/>
    <p:sldId xmlns:r="http://schemas.openxmlformats.org/officeDocument/2006/relationships" id="258" r:id="Rcf8a7ccd7338498e"/>
    <p:sldId xmlns:r="http://schemas.openxmlformats.org/officeDocument/2006/relationships" id="259" r:id="R654263eed7d142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471c61b5b74573" /><Relationship Type="http://schemas.openxmlformats.org/officeDocument/2006/relationships/slideMaster" Target="/ppt/slideMasters/slideMaster1.xml" Id="Rc06252d48c064d29" /><Relationship Type="http://schemas.openxmlformats.org/officeDocument/2006/relationships/notesMaster" Target="/ppt/notesMasters/notesMaster1.xml" Id="R9fb52293598f47a6" /><Relationship Type="http://schemas.openxmlformats.org/officeDocument/2006/relationships/presProps" Target="/ppt/presProps.xml" Id="Re6478ab79de140d4" /><Relationship Type="http://schemas.openxmlformats.org/officeDocument/2006/relationships/tableStyles" Target="/ppt/tableStyles.xml" Id="R2e80d6845865400e" /><Relationship Type="http://schemas.openxmlformats.org/officeDocument/2006/relationships/slide" Target="/ppt/slides/slide1.xml" Id="Ra25f9352ff2d41f5" /><Relationship Type="http://schemas.openxmlformats.org/officeDocument/2006/relationships/slide" Target="/ppt/slides/slide2.xml" Id="Rfc398d1971b84238" /><Relationship Type="http://schemas.openxmlformats.org/officeDocument/2006/relationships/slide" Target="/ppt/slides/slide3.xml" Id="Rcf8a7ccd7338498e" /><Relationship Type="http://schemas.openxmlformats.org/officeDocument/2006/relationships/slide" Target="/ppt/slides/slide4.xml" Id="R654263eed7d142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924c1d4d774f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0ea5ab2583488f" /><Relationship Type="http://schemas.openxmlformats.org/officeDocument/2006/relationships/notesMaster" Target="/ppt/notesMasters/notesMaster1.xml" Id="R7c5cc03485f24b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6226a2514d4421" /><Relationship Type="http://schemas.openxmlformats.org/officeDocument/2006/relationships/notesMaster" Target="/ppt/notesMasters/notesMaster1.xml" Id="R7a59e1f59e3c4d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7d125bbd564266" /><Relationship Type="http://schemas.openxmlformats.org/officeDocument/2006/relationships/notesMaster" Target="/ppt/notesMasters/notesMaster1.xml" Id="R93779574de344e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3239decb12473d" /><Relationship Type="http://schemas.openxmlformats.org/officeDocument/2006/relationships/notesMaster" Target="/ppt/notesMasters/notesMaster1.xml" Id="Rf03bad3358a446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汇报范围：根据用户提供的调研材料整理，属于方案调研，尚无本项目实测结果。第一阶段假设室内平整地面。六自由度定位支持三维姿态估计，平地导航在 x、y、yaw 空间规划。</a:t>
            </a:r>
          </a:p>
          <a:p xmlns:a="http://schemas.openxmlformats.org/drawingml/2006/main">
            <a:r>
              <a:t>原材料参考：FAST-LIO2 https://arxiv.org/abs/2107.06829</a:t>
            </a:r>
          </a:p>
          <a:p xmlns:a="http://schemas.openxmlformats.org/drawingml/2006/main">
            <a:r>
              <a:t>Nav2 Voxel Layer https://docs.nav2.org/rolling/configuration_and_development/configuration_guide/core_servers/costmap_2d/costmap_plugins/voxel/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FAST-LIO2 是里程计和增量建图前端，不能直接等同于带回环优化的完整 SLAM。地图定位通常需要较好的初值。所列工程实现的 ROS 版本、传感器和 G1 SDK 适配需要在实验阶段确认。</a:t>
            </a:r>
          </a:p>
          <a:p xmlns:a="http://schemas.openxmlformats.org/drawingml/2006/main">
            <a:r>
              <a:t>原材料参考：</a:t>
            </a:r>
          </a:p>
          <a:p xmlns:a="http://schemas.openxmlformats.org/drawingml/2006/main">
            <a:r>
              <a:t>FAST-LIO2 https://arxiv.org/abs/2107.06829</a:t>
            </a:r>
          </a:p>
          <a:p xmlns:a="http://schemas.openxmlformats.org/drawingml/2006/main">
            <a:r>
              <a:t>Point-LIO https://advanced.onlinelibrary.wiley.com/doi/full/10.1002/aisy.202200459</a:t>
            </a:r>
          </a:p>
          <a:p xmlns:a="http://schemas.openxmlformats.org/drawingml/2006/main">
            <a:r>
              <a:t>地图定位 https://github.com/deepglint/FAST_LIO_LOCALIZATION_HUMANOID</a:t>
            </a:r>
          </a:p>
          <a:p xmlns:a="http://schemas.openxmlformats.org/drawingml/2006/main">
            <a:r>
              <a:t>LIO-SAM https://ieeexplore.ieee.org/abstract/document/9341176/</a:t>
            </a:r>
          </a:p>
          <a:p xmlns:a="http://schemas.openxmlformats.org/drawingml/2006/main">
            <a:r>
              <a:t>Leg-KILO https://ieeexplore.ieee.org/document/10631676/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MPPI 在此承担高层平面导航，不是足步规划器。是否开放侧向速度、速度范围及接口由实机控制模式决定。二维地图不能完整刻画全身三维碰撞，因此第一阶段限制在适合该表示的平地场景。</a:t>
            </a:r>
          </a:p>
          <a:p xmlns:a="http://schemas.openxmlformats.org/drawingml/2006/main">
            <a:r>
              <a:t>原材料参考：</a:t>
            </a:r>
          </a:p>
          <a:p xmlns:a="http://schemas.openxmlformats.org/drawingml/2006/main">
            <a:r>
              <a:t>Voxel Layer https://docs.nav2.org/rolling/configuration_and_development/configuration_guide/core_servers/costmap_2d/costmap_plugins/voxel/</a:t>
            </a:r>
          </a:p>
          <a:p xmlns:a="http://schemas.openxmlformats.org/drawingml/2006/main">
            <a:r>
              <a:t>MPPI https://docs.nav2.org/jazzy/configuration_and_development/configuration_guide/controller_plugins/mppi_controller/configuring_mppic/</a:t>
            </a:r>
          </a:p>
          <a:p xmlns:a="http://schemas.openxmlformats.org/drawingml/2006/main">
            <a:r>
              <a:t>G1 工程参考 https://github.com/binbin2002/Unitree_G1_Navigation/blob/main/README.md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建议执行顺序：校准与同步检查、LIO 对照、已知地图定位、导航闭环、地形扩展。ATE/RPE 需要可用的参考轨迹；没有真值时应明确记录闭环终点误差、重复轨迹一致性等代理指标，不能称为 ATE。指标门槛应结合场地、参考系统和 G1 运动能力另行确定。本页为实验计划，无性能数据。</a:t>
            </a:r>
          </a:p>
          <a:p xmlns:a="http://schemas.openxmlformats.org/drawingml/2006/main">
            <a:r>
              <a:t>原材料参考：</a:t>
            </a:r>
          </a:p>
          <a:p xmlns:a="http://schemas.openxmlformats.org/drawingml/2006/main">
            <a:r>
              <a:t>Elevation Mapping https://arxiv.org/abs/2204.12876</a:t>
            </a:r>
          </a:p>
          <a:p xmlns:a="http://schemas.openxmlformats.org/drawingml/2006/main">
            <a:r>
              <a:t>nvblox https://arxiv.org/abs/2311.00626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526de164b44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5e4020bc24e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9de2879cd4b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6640ef82f4c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e0e4f57f140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b4c30e1bb4e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7B242A-62C8-46E9-9ACC-71B368CD3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053A2C-B8C8-4045-A311-98F8C2A17F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A5475B3-4E61-4BC5-A7D7-BBE7BE163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A37709-3B98-4FFD-AE79-6A26547EF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A4BEC56-7248-44D8-99B2-DB496BE39E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D27235-34BD-4EA8-9320-821DC8F8EF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CCA47B-ECEB-4DF7-9DEC-B86773E4DD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E2EB4F-6430-41A7-895A-41A4BD35F8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55DD9A-5E90-4443-BBAF-4FA8314EF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86A7F0-7225-4A65-9108-0880169F81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a885360ef54a02" /><Relationship Type="http://schemas.openxmlformats.org/officeDocument/2006/relationships/slideLayout" Target="/ppt/slideLayouts/slideLayout1.xml" Id="R00f27e5cccdd4f2f" /><Relationship Type="http://schemas.openxmlformats.org/officeDocument/2006/relationships/slideLayout" Target="/ppt/slideLayouts/slideLayout2.xml" Id="Re9226b7a893843b6" /><Relationship Type="http://schemas.openxmlformats.org/officeDocument/2006/relationships/slideLayout" Target="/ppt/slideLayouts/slideLayout3.xml" Id="R068928cbe02640db" /><Relationship Type="http://schemas.openxmlformats.org/officeDocument/2006/relationships/slideLayout" Target="/ppt/slideLayouts/slideLayout4.xml" Id="Rb2ae5608d30a4aaa" /><Relationship Type="http://schemas.openxmlformats.org/officeDocument/2006/relationships/slideLayout" Target="/ppt/slideLayouts/slideLayout5.xml" Id="R90cd8bc473254a5c" /><Relationship Type="http://schemas.openxmlformats.org/officeDocument/2006/relationships/slideLayout" Target="/ppt/slideLayouts/slideLayout6.xml" Id="R4288969fa30242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f27e5cccdd4f2f"/>
    <p:sldLayoutId xmlns:r="http://schemas.openxmlformats.org/officeDocument/2006/relationships" id="2147483650" r:id="Re9226b7a893843b6"/>
    <p:sldLayoutId xmlns:r="http://schemas.openxmlformats.org/officeDocument/2006/relationships" id="2147483651" r:id="R068928cbe02640db"/>
    <p:sldLayoutId xmlns:r="http://schemas.openxmlformats.org/officeDocument/2006/relationships" id="2147483652" r:id="Rb2ae5608d30a4aaa"/>
    <p:sldLayoutId xmlns:r="http://schemas.openxmlformats.org/officeDocument/2006/relationships" id="2147483653" r:id="R90cd8bc473254a5c"/>
    <p:sldLayoutId xmlns:r="http://schemas.openxmlformats.org/officeDocument/2006/relationships" id="2147483654" r:id="R4288969fa30242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2d3bd59da4ed6" /><Relationship Type="http://schemas.openxmlformats.org/officeDocument/2006/relationships/notesSlide" Target="/ppt/notesSlides/notesSlide1.xml" Id="R5634905b734945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caa3c8fb24860" /><Relationship Type="http://schemas.openxmlformats.org/officeDocument/2006/relationships/notesSlide" Target="/ppt/notesSlides/notesSlide2.xml" Id="R9283ed052f9a46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27aaeb86a4e1f" /><Relationship Type="http://schemas.openxmlformats.org/officeDocument/2006/relationships/notesSlide" Target="/ppt/notesSlides/notesSlide3.xml" Id="R547de109a9224f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007c0527c47bb" /><Relationship Type="http://schemas.openxmlformats.org/officeDocument/2006/relationships/notesSlide" Target="/ppt/notesSlides/notesSlide4.xml" Id="R08a57aaaa83a4c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6DC6F-8DA6-4986-97BA-06882C6E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rPr>
              <a:t>Unitree G1 三维激光定位与避障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34A40-DD7D-43A3-A022-05F4D6B0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Unitree G1 · 3D 激光导航调研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6721B-55B0-4C01-8113-2FDAAD10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1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06EBD-7428-4FF3-9790-33FA11FF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调研结论与 baseline 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05997-F742-4754-A0B8-46EC35F9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rPr>
              <a:t>3D 定位 + 2D 平地导航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64E85-B02A-4A40-8420-25B9C473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rPr>
              <a:t>以室内平整地面为起点，先验证预建地图中的自主到点导航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9A69E-FA58-44AB-B0DF-076F06F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rPr>
              <a:t>定位与建图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3E4E4-17C3-4223-AC07-93BDA320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Mid-360 + IMU</a:t>
            </a:r>
          </a:p>
          <a:p xmlns:a="http://schemas.openxmlformats.org/drawingml/2006/main">
            <a: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FAST-LIO2 + 地图配准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97CC1-01A2-4B6A-ABE5-822DBE6B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0527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rPr>
              <a:t>障碍感知与规划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6F700-A663-4A2E-9C73-17663631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38675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三维点云 + Voxel Layer</a:t>
            </a:r>
          </a:p>
          <a:p xmlns:a="http://schemas.openxmlformats.org/drawingml/2006/main">
            <a: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二维代价地图 + MPPI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219D2-F9B0-4D7C-9282-5F9D4DA1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052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rPr>
              <a:t>机器人执行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BFAF1-FCF5-4829-A1B0-F0F1B3F0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38675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平面速度指令</a:t>
            </a:r>
          </a:p>
          <a:p xmlns:a="http://schemas.openxmlformats.org/drawingml/2006/main">
            <a: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G1 运动控制器</a:t>
            </a:r>
          </a:p>
        </p:txBody>
      </p:sp>
    </p:spTree>
    <p:extLst>
      <p:ext uri="{BB962C8B-B14F-4D97-AF65-F5344CB8AC3E}">
        <p14:creationId xmlns:p14="http://schemas.microsoft.com/office/powerpoint/2010/main" val="1044017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825B3-070A-42C7-AA3B-27683AB2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rPr>
              <a:t>定位方案：FAST-LIO2 为主，分模块验证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6D63E-D371-4783-8471-847B0387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Unitree G1 · 3D 激光导航调研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4F007-34F4-44F2-B109-C4EC41D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2 / 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2E8BC-0965-4687-8FC7-E8B46CD53AEB}"/>
              </a:ext>
            </a:extLst>
          </p:cNvPr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43375"/>
                <a:gridCol w="4162425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模块 / 方案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作用与优势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边界及选型建议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FAST-LIO2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LiDAR–IMU 紧耦合里程计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增量构建三维点云地图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 baseline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回环与全局优化需额外集成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Point-LIO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面向高动态运动的 LIO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作为行走振动场景对照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预建地图定位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scan-to-map 配准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FAST-LIO 地图定位实现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先采用人工粗初值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再评估全局重定位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LIO-SAM / Leg-KILO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因子图优化 / 运动学融合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分别作为全局一致性、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腿式运动鲁棒性扩展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999C4-4B5A-49E8-A3CA-B4240CBD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rPr>
              <a:t>关键区分：连续里程计、回环建图、预建地图定位属于不同模块</a:t>
            </a:r>
          </a:p>
        </p:txBody>
      </p:sp>
    </p:spTree>
    <p:extLst>
      <p:ext uri="{BB962C8B-B14F-4D97-AF65-F5344CB8AC3E}">
        <p14:creationId xmlns:p14="http://schemas.microsoft.com/office/powerpoint/2010/main" val="1489218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BFFB1-D158-479D-87AB-1305FF05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rPr>
              <a:t>避障方案：三维感知支撑平面规划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C6632-AC5A-4466-B48A-07B63605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Unitree G1 · 3D 激光导航调研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20008-A0A1-48AD-9644-ADE4D60A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3 / 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61D48-5983-4485-AD03-0910DBC03526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48125"/>
                <a:gridCol w="4543425"/>
              </a:tblGrid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处理环节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baseline 配置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输出 / 集成要点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障碍感知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实时点云，地面与自身过滤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保留与机器人碰撞相关的高度范围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导航地图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Nav2 Voxel Layer + 2D Costmap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体素观测投影为二维障碍代价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路径与局部避障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Smac / A* + MPPI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结合路径与障碍代价生成速度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G1 执行接口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速度桥接至运动控制器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vx、vy、ωz，按实机能力限速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BF977-4819-4186-883F-D725E294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rPr>
              <a:t>导航层决定行进方向和速度，G1 运动控制器负责步态执行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9CBFC-6EA8-4B52-AEAF-DE6A6722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集成重点：TF 与时间同步、机身碰撞轮廓、速度超时停车和急停</a:t>
            </a:r>
          </a:p>
        </p:txBody>
      </p:sp>
    </p:spTree>
    <p:extLst>
      <p:ext uri="{BB962C8B-B14F-4D97-AF65-F5344CB8AC3E}">
        <p14:creationId xmlns:p14="http://schemas.microsoft.com/office/powerpoint/2010/main" val="535644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6FB98-1852-4215-A35A-68726733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rPr>
              <a:t>验证计划与后续研究方向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3D666-9468-4416-AF25-E5E00953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Unitree G1 · 3D 激光导航调研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691C7-DCD3-41A9-BF71-0D341B1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4 / 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E7736-D7D3-4F72-B6C5-F4A1586D87FB}"/>
              </a:ext>
            </a:extLst>
          </p:cNvPr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572000"/>
                <a:gridCol w="4162425"/>
              </a:tblGrid>
              <a:tr h="8024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实验阶段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场景与任务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主要指标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① 定位稳定性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静止、直线、转向、启停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对比 FAST-LIO2 与 Point-LIO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z / roll / pitch 波动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ATE / RPE、延迟与漂移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② 地图定位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保存地图后重启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逐步增加位置与航向初值偏差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重定位成功率与耗时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定位连续性</a:t>
                      </a:r>
                    </a:p>
                  </a:txBody>
                  <a:tcPr marL="91440" marR="91440" marT="45720" marB="45720">
                    <a:solidFill>
                      <a:srgbClr val="EEF3F5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③ 平地自主导航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纸箱、桌腿、窄通道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在受控条件下加入移动障碍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到达率、碰撞率、最小间距</a:t>
                      </a:r>
                    </a:p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路径效率、急停次数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EF583-0359-4567-91D4-A29E4FE2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42D42"/>
                </a:solidFill>
                <a:latin typeface="Noto Sans CJK SC"/>
                <a:ea typeface="Noto Sans CJK SC"/>
                <a:cs typeface="Noto Sans CJK SC"/>
              </a:rPr>
              <a:t>阶段扩展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2A2A3-CFD3-42C5-9FB7-B643D635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坡道 / 台阶：Elevation Map + 可通行性评估</a:t>
            </a:r>
          </a:p>
          <a:p xmlns:a="http://schemas.openxmlformats.org/drawingml/2006/main">
            <a:pPr>
              <a:def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779"/>
                </a:solidFill>
                <a:latin typeface="Noto Sans CJK SC"/>
                <a:ea typeface="Noto Sans CJK SC"/>
                <a:cs typeface="Noto Sans CJK SC"/>
              </a:rPr>
              <a:t>全身空间约束：ESDF；更复杂环境再研究语义与学习策略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A8F0E-EF1B-4BD1-9C65-14B6B1A1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07E87"/>
                </a:solidFill>
                <a:latin typeface="Noto Sans CJK SC"/>
                <a:ea typeface="Noto Sans CJK SC"/>
                <a:cs typeface="Noto Sans CJK SC"/>
              </a:rPr>
              <a:t>先完成可复现 baseline，再用实测结果决定扩展方向</a:t>
            </a:r>
          </a:p>
        </p:txBody>
      </p:sp>
    </p:spTree>
    <p:extLst>
      <p:ext uri="{BB962C8B-B14F-4D97-AF65-F5344CB8AC3E}">
        <p14:creationId xmlns:p14="http://schemas.microsoft.com/office/powerpoint/2010/main" val="1504654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2026-10-09T06:26:29.7620000Z</dcterms:created>
  <dcterms:modified xsi:type="dcterms:W3CDTF">2026-10-09T06:26:29.7620000Z</dcterms:modified>
</coreProperties>
</file>